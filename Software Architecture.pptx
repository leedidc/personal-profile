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2" r:id="rId1"/>
  </p:sldMasterIdLst>
  <p:notesMasterIdLst>
    <p:notesMasterId r:id="rId3"/>
  </p:notesMasterIdLst>
  <p:sldIdLst>
    <p:sldId id="256" r:id="rId2"/>
  </p:sldIdLst>
  <p:sldSz cx="28800425" cy="10799763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52" d="100"/>
          <a:sy n="52" d="100"/>
        </p:scale>
        <p:origin x="204" y="7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5852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00054" y="1767462"/>
            <a:ext cx="21600319" cy="3759917"/>
          </a:xfrm>
        </p:spPr>
        <p:txBody>
          <a:bodyPr anchor="b"/>
          <a:lstStyle>
            <a:lvl1pPr algn="ctr">
              <a:defRPr sz="945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00054" y="5672376"/>
            <a:ext cx="21600319" cy="2607442"/>
          </a:xfrm>
        </p:spPr>
        <p:txBody>
          <a:bodyPr/>
          <a:lstStyle>
            <a:lvl1pPr marL="0" indent="0" algn="ctr">
              <a:buNone/>
              <a:defRPr sz="3780"/>
            </a:lvl1pPr>
            <a:lvl2pPr marL="720000" indent="0" algn="ctr">
              <a:buNone/>
              <a:defRPr sz="3150"/>
            </a:lvl2pPr>
            <a:lvl3pPr marL="1439998" indent="0" algn="ctr">
              <a:buNone/>
              <a:defRPr sz="2836"/>
            </a:lvl3pPr>
            <a:lvl4pPr marL="2159996" indent="0" algn="ctr">
              <a:buNone/>
              <a:defRPr sz="2520"/>
            </a:lvl4pPr>
            <a:lvl5pPr marL="2879994" indent="0" algn="ctr">
              <a:buNone/>
              <a:defRPr sz="2520"/>
            </a:lvl5pPr>
            <a:lvl6pPr marL="3599994" indent="0" algn="ctr">
              <a:buNone/>
              <a:defRPr sz="2520"/>
            </a:lvl6pPr>
            <a:lvl7pPr marL="4319992" indent="0" algn="ctr">
              <a:buNone/>
              <a:defRPr sz="2520"/>
            </a:lvl7pPr>
            <a:lvl8pPr marL="5039990" indent="0" algn="ctr">
              <a:buNone/>
              <a:defRPr sz="2520"/>
            </a:lvl8pPr>
            <a:lvl9pPr marL="5759988" indent="0" algn="ctr">
              <a:buNone/>
              <a:defRPr sz="25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01529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65699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65030" y="2692444"/>
            <a:ext cx="24840367" cy="4492401"/>
          </a:xfrm>
        </p:spPr>
        <p:txBody>
          <a:bodyPr anchor="b"/>
          <a:lstStyle>
            <a:lvl1pPr>
              <a:defRPr sz="945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65030" y="7227345"/>
            <a:ext cx="24840367" cy="2362447"/>
          </a:xfrm>
        </p:spPr>
        <p:txBody>
          <a:bodyPr/>
          <a:lstStyle>
            <a:lvl1pPr marL="0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1pPr>
            <a:lvl2pPr marL="720000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2pPr>
            <a:lvl3pPr marL="1439998" indent="0">
              <a:buNone/>
              <a:defRPr sz="2836">
                <a:solidFill>
                  <a:schemeClr val="tx1">
                    <a:tint val="75000"/>
                  </a:schemeClr>
                </a:solidFill>
              </a:defRPr>
            </a:lvl3pPr>
            <a:lvl4pPr marL="2159996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4pPr>
            <a:lvl5pPr marL="2879994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5pPr>
            <a:lvl6pPr marL="3599994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6pPr>
            <a:lvl7pPr marL="4319992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7pPr>
            <a:lvl8pPr marL="503999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8pPr>
            <a:lvl9pPr marL="5759988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6951484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80031" y="2874937"/>
            <a:ext cx="12240182" cy="6852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580216" y="2874937"/>
            <a:ext cx="12240182" cy="6852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02049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0" y="574990"/>
            <a:ext cx="24840367" cy="208745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3783" y="2647445"/>
            <a:ext cx="12183930" cy="1297471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00" indent="0">
              <a:buNone/>
              <a:defRPr sz="3150" b="1"/>
            </a:lvl2pPr>
            <a:lvl3pPr marL="1439998" indent="0">
              <a:buNone/>
              <a:defRPr sz="2836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4" indent="0">
              <a:buNone/>
              <a:defRPr sz="2520" b="1"/>
            </a:lvl6pPr>
            <a:lvl7pPr marL="4319992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83783" y="3944916"/>
            <a:ext cx="12183930" cy="580237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580215" y="2647445"/>
            <a:ext cx="12243932" cy="1297471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00" indent="0">
              <a:buNone/>
              <a:defRPr sz="3150" b="1"/>
            </a:lvl2pPr>
            <a:lvl3pPr marL="1439998" indent="0">
              <a:buNone/>
              <a:defRPr sz="2836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4" indent="0">
              <a:buNone/>
              <a:defRPr sz="2520" b="1"/>
            </a:lvl6pPr>
            <a:lvl7pPr marL="4319992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580215" y="3944916"/>
            <a:ext cx="12243932" cy="580237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329571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742186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061634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3" y="719986"/>
            <a:ext cx="9288886" cy="2519945"/>
          </a:xfrm>
        </p:spPr>
        <p:txBody>
          <a:bodyPr anchor="b"/>
          <a:lstStyle>
            <a:lvl1pPr>
              <a:defRPr sz="50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243932" y="1554966"/>
            <a:ext cx="14580215" cy="7674832"/>
          </a:xfrm>
        </p:spPr>
        <p:txBody>
          <a:bodyPr/>
          <a:lstStyle>
            <a:lvl1pPr>
              <a:defRPr sz="5040"/>
            </a:lvl1pPr>
            <a:lvl2pPr>
              <a:defRPr sz="4410"/>
            </a:lvl2pPr>
            <a:lvl3pPr>
              <a:defRPr sz="3780"/>
            </a:lvl3pPr>
            <a:lvl4pPr>
              <a:defRPr sz="3150"/>
            </a:lvl4pPr>
            <a:lvl5pPr>
              <a:defRPr sz="3150"/>
            </a:lvl5pPr>
            <a:lvl6pPr>
              <a:defRPr sz="3150"/>
            </a:lvl6pPr>
            <a:lvl7pPr>
              <a:defRPr sz="3150"/>
            </a:lvl7pPr>
            <a:lvl8pPr>
              <a:defRPr sz="3150"/>
            </a:lvl8pPr>
            <a:lvl9pPr>
              <a:defRPr sz="31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783" y="3239931"/>
            <a:ext cx="9288886" cy="6002369"/>
          </a:xfrm>
        </p:spPr>
        <p:txBody>
          <a:bodyPr/>
          <a:lstStyle>
            <a:lvl1pPr marL="0" indent="0">
              <a:buNone/>
              <a:defRPr sz="2520"/>
            </a:lvl1pPr>
            <a:lvl2pPr marL="720000" indent="0">
              <a:buNone/>
              <a:defRPr sz="2206"/>
            </a:lvl2pPr>
            <a:lvl3pPr marL="1439998" indent="0">
              <a:buNone/>
              <a:defRPr sz="1890"/>
            </a:lvl3pPr>
            <a:lvl4pPr marL="2159996" indent="0">
              <a:buNone/>
              <a:defRPr sz="1576"/>
            </a:lvl4pPr>
            <a:lvl5pPr marL="2879994" indent="0">
              <a:buNone/>
              <a:defRPr sz="1576"/>
            </a:lvl5pPr>
            <a:lvl6pPr marL="3599994" indent="0">
              <a:buNone/>
              <a:defRPr sz="1576"/>
            </a:lvl6pPr>
            <a:lvl7pPr marL="4319992" indent="0">
              <a:buNone/>
              <a:defRPr sz="1576"/>
            </a:lvl7pPr>
            <a:lvl8pPr marL="5039990" indent="0">
              <a:buNone/>
              <a:defRPr sz="1576"/>
            </a:lvl8pPr>
            <a:lvl9pPr marL="5759988" indent="0">
              <a:buNone/>
              <a:defRPr sz="1576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447447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3" y="719986"/>
            <a:ext cx="9288886" cy="2519945"/>
          </a:xfrm>
        </p:spPr>
        <p:txBody>
          <a:bodyPr anchor="b"/>
          <a:lstStyle>
            <a:lvl1pPr>
              <a:defRPr sz="50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243932" y="1554966"/>
            <a:ext cx="14580215" cy="7674832"/>
          </a:xfrm>
        </p:spPr>
        <p:txBody>
          <a:bodyPr anchor="t"/>
          <a:lstStyle>
            <a:lvl1pPr marL="0" indent="0">
              <a:buNone/>
              <a:defRPr sz="5040"/>
            </a:lvl1pPr>
            <a:lvl2pPr marL="720000" indent="0">
              <a:buNone/>
              <a:defRPr sz="4410"/>
            </a:lvl2pPr>
            <a:lvl3pPr marL="1439998" indent="0">
              <a:buNone/>
              <a:defRPr sz="3780"/>
            </a:lvl3pPr>
            <a:lvl4pPr marL="2159996" indent="0">
              <a:buNone/>
              <a:defRPr sz="3150"/>
            </a:lvl4pPr>
            <a:lvl5pPr marL="2879994" indent="0">
              <a:buNone/>
              <a:defRPr sz="3150"/>
            </a:lvl5pPr>
            <a:lvl6pPr marL="3599994" indent="0">
              <a:buNone/>
              <a:defRPr sz="3150"/>
            </a:lvl6pPr>
            <a:lvl7pPr marL="4319992" indent="0">
              <a:buNone/>
              <a:defRPr sz="3150"/>
            </a:lvl7pPr>
            <a:lvl8pPr marL="5039990" indent="0">
              <a:buNone/>
              <a:defRPr sz="3150"/>
            </a:lvl8pPr>
            <a:lvl9pPr marL="5759988" indent="0">
              <a:buNone/>
              <a:defRPr sz="315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783" y="3239931"/>
            <a:ext cx="9288886" cy="6002369"/>
          </a:xfrm>
        </p:spPr>
        <p:txBody>
          <a:bodyPr/>
          <a:lstStyle>
            <a:lvl1pPr marL="0" indent="0">
              <a:buNone/>
              <a:defRPr sz="2520"/>
            </a:lvl1pPr>
            <a:lvl2pPr marL="720000" indent="0">
              <a:buNone/>
              <a:defRPr sz="2206"/>
            </a:lvl2pPr>
            <a:lvl3pPr marL="1439998" indent="0">
              <a:buNone/>
              <a:defRPr sz="1890"/>
            </a:lvl3pPr>
            <a:lvl4pPr marL="2159996" indent="0">
              <a:buNone/>
              <a:defRPr sz="1576"/>
            </a:lvl4pPr>
            <a:lvl5pPr marL="2879994" indent="0">
              <a:buNone/>
              <a:defRPr sz="1576"/>
            </a:lvl5pPr>
            <a:lvl6pPr marL="3599994" indent="0">
              <a:buNone/>
              <a:defRPr sz="1576"/>
            </a:lvl6pPr>
            <a:lvl7pPr marL="4319992" indent="0">
              <a:buNone/>
              <a:defRPr sz="1576"/>
            </a:lvl7pPr>
            <a:lvl8pPr marL="5039990" indent="0">
              <a:buNone/>
              <a:defRPr sz="1576"/>
            </a:lvl8pPr>
            <a:lvl9pPr marL="5759988" indent="0">
              <a:buNone/>
              <a:defRPr sz="1576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893571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995749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0610303" y="574987"/>
            <a:ext cx="6210092" cy="91523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80031" y="574987"/>
            <a:ext cx="18270269" cy="91523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272444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5459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80030" y="574990"/>
            <a:ext cx="24840367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0030" y="2874937"/>
            <a:ext cx="24840367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80030" y="10009783"/>
            <a:ext cx="6480096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540141" y="10009783"/>
            <a:ext cx="9720144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340299" y="10009783"/>
            <a:ext cx="6480096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827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</p:sldLayoutIdLst>
  <p:hf sldNum="0" hdr="0" ftr="0" dt="0"/>
  <p:txStyles>
    <p:titleStyle>
      <a:lvl1pPr algn="l" defTabSz="1439998" rtl="0" eaLnBrk="1" latinLnBrk="1" hangingPunct="1">
        <a:lnSpc>
          <a:spcPct val="90000"/>
        </a:lnSpc>
        <a:spcBef>
          <a:spcPct val="0"/>
        </a:spcBef>
        <a:buNone/>
        <a:defRPr sz="69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1439998" rtl="0" eaLnBrk="1" latinLnBrk="1" hangingPunct="1">
        <a:lnSpc>
          <a:spcPct val="90000"/>
        </a:lnSpc>
        <a:spcBef>
          <a:spcPts val="1576"/>
        </a:spcBef>
        <a:buFont typeface="Arial" panose="020B0604020202020204" pitchFamily="34" charset="0"/>
        <a:buChar char="•"/>
        <a:defRPr sz="4410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indent="-360000" algn="l" defTabSz="1439998" rtl="0" eaLnBrk="1" latinLnBrk="1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indent="-360000" algn="l" defTabSz="1439998" rtl="0" eaLnBrk="1" latinLnBrk="1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3pPr>
      <a:lvl4pPr marL="2519996" indent="-360000" algn="l" defTabSz="1439998" rtl="0" eaLnBrk="1" latinLnBrk="1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836" kern="1200">
          <a:solidFill>
            <a:schemeClr val="tx1"/>
          </a:solidFill>
          <a:latin typeface="+mn-lt"/>
          <a:ea typeface="+mn-ea"/>
          <a:cs typeface="+mn-cs"/>
        </a:defRPr>
      </a:lvl4pPr>
      <a:lvl5pPr marL="3239994" indent="-360000" algn="l" defTabSz="1439998" rtl="0" eaLnBrk="1" latinLnBrk="1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836" kern="1200">
          <a:solidFill>
            <a:schemeClr val="tx1"/>
          </a:solidFill>
          <a:latin typeface="+mn-lt"/>
          <a:ea typeface="+mn-ea"/>
          <a:cs typeface="+mn-cs"/>
        </a:defRPr>
      </a:lvl5pPr>
      <a:lvl6pPr marL="3959992" indent="-360000" algn="l" defTabSz="1439998" rtl="0" eaLnBrk="1" latinLnBrk="1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836" kern="1200">
          <a:solidFill>
            <a:schemeClr val="tx1"/>
          </a:solidFill>
          <a:latin typeface="+mn-lt"/>
          <a:ea typeface="+mn-ea"/>
          <a:cs typeface="+mn-cs"/>
        </a:defRPr>
      </a:lvl6pPr>
      <a:lvl7pPr marL="4679992" indent="-360000" algn="l" defTabSz="1439998" rtl="0" eaLnBrk="1" latinLnBrk="1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836" kern="1200">
          <a:solidFill>
            <a:schemeClr val="tx1"/>
          </a:solidFill>
          <a:latin typeface="+mn-lt"/>
          <a:ea typeface="+mn-ea"/>
          <a:cs typeface="+mn-cs"/>
        </a:defRPr>
      </a:lvl7pPr>
      <a:lvl8pPr marL="5399990" indent="-360000" algn="l" defTabSz="1439998" rtl="0" eaLnBrk="1" latinLnBrk="1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836" kern="1200">
          <a:solidFill>
            <a:schemeClr val="tx1"/>
          </a:solidFill>
          <a:latin typeface="+mn-lt"/>
          <a:ea typeface="+mn-ea"/>
          <a:cs typeface="+mn-cs"/>
        </a:defRPr>
      </a:lvl8pPr>
      <a:lvl9pPr marL="6119988" indent="-360000" algn="l" defTabSz="1439998" rtl="0" eaLnBrk="1" latinLnBrk="1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83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39998" rtl="0" eaLnBrk="1" latinLnBrk="1" hangingPunct="1">
        <a:defRPr sz="2836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algn="l" defTabSz="1439998" rtl="0" eaLnBrk="1" latinLnBrk="1" hangingPunct="1">
        <a:defRPr sz="2836" kern="1200">
          <a:solidFill>
            <a:schemeClr val="tx1"/>
          </a:solidFill>
          <a:latin typeface="+mn-lt"/>
          <a:ea typeface="+mn-ea"/>
          <a:cs typeface="+mn-cs"/>
        </a:defRPr>
      </a:lvl2pPr>
      <a:lvl3pPr marL="1439998" algn="l" defTabSz="1439998" rtl="0" eaLnBrk="1" latinLnBrk="1" hangingPunct="1">
        <a:defRPr sz="2836" kern="1200">
          <a:solidFill>
            <a:schemeClr val="tx1"/>
          </a:solidFill>
          <a:latin typeface="+mn-lt"/>
          <a:ea typeface="+mn-ea"/>
          <a:cs typeface="+mn-cs"/>
        </a:defRPr>
      </a:lvl3pPr>
      <a:lvl4pPr marL="2159996" algn="l" defTabSz="1439998" rtl="0" eaLnBrk="1" latinLnBrk="1" hangingPunct="1">
        <a:defRPr sz="2836" kern="1200">
          <a:solidFill>
            <a:schemeClr val="tx1"/>
          </a:solidFill>
          <a:latin typeface="+mn-lt"/>
          <a:ea typeface="+mn-ea"/>
          <a:cs typeface="+mn-cs"/>
        </a:defRPr>
      </a:lvl4pPr>
      <a:lvl5pPr marL="2879994" algn="l" defTabSz="1439998" rtl="0" eaLnBrk="1" latinLnBrk="1" hangingPunct="1">
        <a:defRPr sz="2836" kern="1200">
          <a:solidFill>
            <a:schemeClr val="tx1"/>
          </a:solidFill>
          <a:latin typeface="+mn-lt"/>
          <a:ea typeface="+mn-ea"/>
          <a:cs typeface="+mn-cs"/>
        </a:defRPr>
      </a:lvl5pPr>
      <a:lvl6pPr marL="3599994" algn="l" defTabSz="1439998" rtl="0" eaLnBrk="1" latinLnBrk="1" hangingPunct="1">
        <a:defRPr sz="2836" kern="1200">
          <a:solidFill>
            <a:schemeClr val="tx1"/>
          </a:solidFill>
          <a:latin typeface="+mn-lt"/>
          <a:ea typeface="+mn-ea"/>
          <a:cs typeface="+mn-cs"/>
        </a:defRPr>
      </a:lvl6pPr>
      <a:lvl7pPr marL="4319992" algn="l" defTabSz="1439998" rtl="0" eaLnBrk="1" latinLnBrk="1" hangingPunct="1">
        <a:defRPr sz="2836" kern="1200">
          <a:solidFill>
            <a:schemeClr val="tx1"/>
          </a:solidFill>
          <a:latin typeface="+mn-lt"/>
          <a:ea typeface="+mn-ea"/>
          <a:cs typeface="+mn-cs"/>
        </a:defRPr>
      </a:lvl7pPr>
      <a:lvl8pPr marL="5039990" algn="l" defTabSz="1439998" rtl="0" eaLnBrk="1" latinLnBrk="1" hangingPunct="1">
        <a:defRPr sz="2836" kern="1200">
          <a:solidFill>
            <a:schemeClr val="tx1"/>
          </a:solidFill>
          <a:latin typeface="+mn-lt"/>
          <a:ea typeface="+mn-ea"/>
          <a:cs typeface="+mn-cs"/>
        </a:defRPr>
      </a:lvl8pPr>
      <a:lvl9pPr marL="5759988" algn="l" defTabSz="1439998" rtl="0" eaLnBrk="1" latinLnBrk="1" hangingPunct="1">
        <a:defRPr sz="283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68525" y="95347"/>
            <a:ext cx="2706366" cy="4034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4577066" y="962807"/>
            <a:ext cx="365760" cy="365760"/>
          </a:xfrm>
          <a:prstGeom prst="ellipse">
            <a:avLst/>
          </a:prstGeom>
          <a:solidFill>
            <a:srgbClr val="F1F5F9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485626" y="1237129"/>
            <a:ext cx="548640" cy="274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427520" y="1463039"/>
            <a:ext cx="6648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506689" y="960229"/>
            <a:ext cx="4986390" cy="65554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98129" y="1005949"/>
            <a:ext cx="4803510" cy="5641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REPOSITORY
</a:t>
            </a:r>
            <a:r>
              <a:rPr lang="en-US" sz="10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including html, </a:t>
            </a:r>
            <a:r>
              <a:rPr lang="en-US" sz="1000" b="1" dirty="0" err="1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</a:t>
            </a:r>
            <a:r>
              <a:rPr lang="en-US" sz="10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1000" b="1" dirty="0" err="1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</a:t>
            </a:r>
            <a:r>
              <a:rPr lang="en-US" sz="10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files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874733" y="2478171"/>
            <a:ext cx="3767494" cy="26843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67641" y="2813219"/>
            <a:ext cx="3584614" cy="320040"/>
          </a:xfrm>
          <a:prstGeom prst="round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4964320" y="3298219"/>
            <a:ext cx="1554480" cy="365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3" name="Text 11"/>
          <p:cNvSpPr/>
          <p:nvPr/>
        </p:nvSpPr>
        <p:spPr>
          <a:xfrm>
            <a:off x="3476798" y="2520073"/>
            <a:ext cx="2566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BROWSER (HTML + CSS + JS)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67641" y="2813219"/>
            <a:ext cx="358461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Personal-Profile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64320" y="3298219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Chatbot.js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806980" y="3133259"/>
            <a:ext cx="4986388" cy="18508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98421" y="3208605"/>
            <a:ext cx="4238850" cy="694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CLOUDFLARE WORKER API (Backend / API Gateway)
</a:t>
            </a: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CORS Handling, Prompt Generation,</a:t>
            </a:r>
            <a:endParaRPr lang="en-US" sz="1150" dirty="0"/>
          </a:p>
          <a:p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Layer, JSON Response Wrapping (5),</a:t>
            </a:r>
          </a:p>
          <a:p>
            <a:r>
              <a:rPr lang="en-US" sz="100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API  Key, Admin Token Secret Storage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814194" y="5786881"/>
            <a:ext cx="4986388" cy="92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56192" y="5828010"/>
            <a:ext cx="4360276" cy="10179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API (LLM Model - Google AI Studio)
</a:t>
            </a: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Inference (text generation)</a:t>
            </a:r>
            <a:endParaRPr lang="en-US" sz="1150" dirty="0"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8319843-3906-AFAA-9635-4C75B3069514}"/>
              </a:ext>
            </a:extLst>
          </p:cNvPr>
          <p:cNvGrpSpPr/>
          <p:nvPr/>
        </p:nvGrpSpPr>
        <p:grpSpPr>
          <a:xfrm>
            <a:off x="297912" y="3623198"/>
            <a:ext cx="1329704" cy="1411942"/>
            <a:chOff x="5244279" y="4561382"/>
            <a:chExt cx="1329704" cy="1411941"/>
          </a:xfrm>
        </p:grpSpPr>
        <p:sp>
          <p:nvSpPr>
            <p:cNvPr id="20" name="Shape 18"/>
            <p:cNvSpPr/>
            <p:nvPr/>
          </p:nvSpPr>
          <p:spPr>
            <a:xfrm>
              <a:off x="5244279" y="4561382"/>
              <a:ext cx="1329704" cy="1411941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94A3B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26250" y="4607097"/>
              <a:ext cx="365760" cy="45720"/>
            </a:xfrm>
            <a:prstGeom prst="roundRect">
              <a:avLst/>
            </a:prstGeom>
            <a:solidFill>
              <a:srgbClr val="E2E8F0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35719" y="4744257"/>
              <a:ext cx="963944" cy="182880"/>
            </a:xfrm>
            <a:prstGeom prst="roundRect">
              <a:avLst/>
            </a:prstGeom>
            <a:solidFill>
              <a:srgbClr val="F1F5F9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518599" y="4972857"/>
              <a:ext cx="963944" cy="182880"/>
            </a:xfrm>
            <a:prstGeom prst="roundRect">
              <a:avLst/>
            </a:prstGeom>
            <a:solidFill>
              <a:srgbClr val="0284C7"/>
            </a:solidFill>
            <a:ln/>
          </p:spPr>
        </p:sp>
      </p:grpSp>
      <p:sp>
        <p:nvSpPr>
          <p:cNvPr id="24" name="Text 22"/>
          <p:cNvSpPr/>
          <p:nvPr/>
        </p:nvSpPr>
        <p:spPr>
          <a:xfrm>
            <a:off x="10753419" y="11698027"/>
            <a:ext cx="1695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VIEW CHAT UI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9946" y="1740051"/>
            <a:ext cx="0" cy="705972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4534220" y="1801005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Browser Access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957040" y="1657345"/>
            <a:ext cx="0" cy="30256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8641200" y="1551103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(Deploy / Hosting)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761896" y="3288711"/>
            <a:ext cx="1883748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6789366" y="2831511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fetch</a:t>
            </a:r>
            <a:endParaRPr lang="en-US" sz="950" dirty="0"/>
          </a:p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POST / message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812400" y="3394597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HTTP(S) Response</a:t>
            </a:r>
            <a:endParaRPr lang="en-US" sz="950" dirty="0"/>
          </a:p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(Wrapped JSON)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0265362" y="5085066"/>
            <a:ext cx="0" cy="600882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8708600" y="5146349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Generate </a:t>
            </a:r>
          </a:p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+ Context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1024390" y="5146349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Gemini API</a:t>
            </a:r>
          </a:p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cs typeface="Arial" pitchFamily="34" charset="-120"/>
              </a:rPr>
              <a:t>Response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 flipH="1">
            <a:off x="1785819" y="3190231"/>
            <a:ext cx="902278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39" name="Text 37"/>
          <p:cNvSpPr/>
          <p:nvPr/>
        </p:nvSpPr>
        <p:spPr>
          <a:xfrm>
            <a:off x="1322558" y="2899801"/>
            <a:ext cx="1828800" cy="212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Rendering</a:t>
            </a:r>
            <a:endParaRPr lang="en-US" sz="950" dirty="0"/>
          </a:p>
        </p:txBody>
      </p:sp>
      <p:pic>
        <p:nvPicPr>
          <p:cNvPr id="1026" name="Picture 2" descr="GitHub의 힘을 열어보세요: 개발자와 팀을 위한 종합 가이드">
            <a:extLst>
              <a:ext uri="{FF2B5EF4-FFF2-40B4-BE49-F238E27FC236}">
                <a16:creationId xmlns:a16="http://schemas.microsoft.com/office/drawing/2014/main" id="{B9A1AF30-18FD-5F7D-6CAC-A4CEA36DCF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4282" y="993176"/>
            <a:ext cx="1573864" cy="583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Shape 14">
            <a:extLst>
              <a:ext uri="{FF2B5EF4-FFF2-40B4-BE49-F238E27FC236}">
                <a16:creationId xmlns:a16="http://schemas.microsoft.com/office/drawing/2014/main" id="{6BF8091B-90FA-32FF-DD9A-903D8117F284}"/>
              </a:ext>
            </a:extLst>
          </p:cNvPr>
          <p:cNvSpPr/>
          <p:nvPr/>
        </p:nvSpPr>
        <p:spPr>
          <a:xfrm>
            <a:off x="7503299" y="1983318"/>
            <a:ext cx="3767494" cy="81232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 15">
            <a:extLst>
              <a:ext uri="{FF2B5EF4-FFF2-40B4-BE49-F238E27FC236}">
                <a16:creationId xmlns:a16="http://schemas.microsoft.com/office/drawing/2014/main" id="{3D060F27-F051-E1FE-2F09-76AB4ACC7B6C}"/>
              </a:ext>
            </a:extLst>
          </p:cNvPr>
          <p:cNvSpPr/>
          <p:nvPr/>
        </p:nvSpPr>
        <p:spPr>
          <a:xfrm>
            <a:off x="7598128" y="2019189"/>
            <a:ext cx="1815800" cy="227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CLOUDFLARE PAGES</a:t>
            </a:r>
            <a:endParaRPr lang="en-US" sz="1150" dirty="0"/>
          </a:p>
        </p:txBody>
      </p:sp>
      <p:pic>
        <p:nvPicPr>
          <p:cNvPr id="1028" name="Picture 4" descr="Cloudflare - 나무위키">
            <a:extLst>
              <a:ext uri="{FF2B5EF4-FFF2-40B4-BE49-F238E27FC236}">
                <a16:creationId xmlns:a16="http://schemas.microsoft.com/office/drawing/2014/main" id="{7AE89AD8-14F4-98AE-CAC5-8DE1B6B23C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5600" y="2095093"/>
            <a:ext cx="1573516" cy="5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20B5ABF6-9FDD-A960-FDC7-5DF0EF2E10AE}"/>
              </a:ext>
            </a:extLst>
          </p:cNvPr>
          <p:cNvCxnSpPr>
            <a:cxnSpLocks/>
          </p:cNvCxnSpPr>
          <p:nvPr/>
        </p:nvCxnSpPr>
        <p:spPr>
          <a:xfrm>
            <a:off x="5092376" y="1237127"/>
            <a:ext cx="2266764" cy="0"/>
          </a:xfrm>
          <a:prstGeom prst="straightConnector1">
            <a:avLst/>
          </a:prstGeom>
          <a:ln w="158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 24">
            <a:extLst>
              <a:ext uri="{FF2B5EF4-FFF2-40B4-BE49-F238E27FC236}">
                <a16:creationId xmlns:a16="http://schemas.microsoft.com/office/drawing/2014/main" id="{9543B61B-65C7-F1B7-53B4-993F2E8330F2}"/>
              </a:ext>
            </a:extLst>
          </p:cNvPr>
          <p:cNvSpPr/>
          <p:nvPr/>
        </p:nvSpPr>
        <p:spPr>
          <a:xfrm>
            <a:off x="5310356" y="871367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/ Remote Sync</a:t>
            </a:r>
            <a:endParaRPr lang="en-US" sz="950" dirty="0"/>
          </a:p>
        </p:txBody>
      </p:sp>
      <p:pic>
        <p:nvPicPr>
          <p:cNvPr id="48" name="Picture 4" descr="Cloudflare - 나무위키">
            <a:extLst>
              <a:ext uri="{FF2B5EF4-FFF2-40B4-BE49-F238E27FC236}">
                <a16:creationId xmlns:a16="http://schemas.microsoft.com/office/drawing/2014/main" id="{F46CC14F-CB26-9821-93FB-339A2F2DB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35032" y="3328191"/>
            <a:ext cx="1573516" cy="5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구글, Gemini API에 실험용 모델 추가…개발자 피드백 수집 나서 - AI매터스">
            <a:extLst>
              <a:ext uri="{FF2B5EF4-FFF2-40B4-BE49-F238E27FC236}">
                <a16:creationId xmlns:a16="http://schemas.microsoft.com/office/drawing/2014/main" id="{258BC9F1-A92B-92D4-E2A3-23634FA137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80183" y1="65217" x2="49619" y2="66033"/>
                        <a14:foregroundMark x1="49619" y1="66033" x2="36357" y2="44022"/>
                        <a14:foregroundMark x1="36357" y1="44022" x2="61585" y2="60054"/>
                        <a14:foregroundMark x1="61585" y1="60054" x2="63034" y2="62636"/>
                        <a14:foregroundMark x1="46875" y1="74728" x2="44360" y2="69701"/>
                        <a14:foregroundMark x1="71570" y1="70245" x2="61052" y2="39266"/>
                        <a14:foregroundMark x1="61052" y1="39266" x2="72485" y2="58424"/>
                        <a14:foregroundMark x1="72485" y1="58424" x2="73780" y2="76630"/>
                        <a14:foregroundMark x1="79878" y1="68342" x2="69436" y2="37092"/>
                        <a14:foregroundMark x1="73399" y1="49185" x2="73399" y2="49185"/>
                        <a14:foregroundMark x1="72332" y1="32609" x2="81250" y2="53668"/>
                        <a14:foregroundMark x1="77668" y1="46060" x2="73399" y2="36413"/>
                        <a14:foregroundMark x1="73018" y1="35190" x2="28354" y2="42527"/>
                        <a14:foregroundMark x1="28354" y1="42527" x2="41616" y2="81793"/>
                        <a14:foregroundMark x1="41616" y1="81793" x2="82774" y2="63043"/>
                        <a14:foregroundMark x1="82774" y1="63043" x2="67149" y2="33560"/>
                        <a14:foregroundMark x1="67149" y1="33560" x2="51220" y2="26223"/>
                        <a14:foregroundMark x1="60899" y1="30027" x2="29116" y2="47690"/>
                        <a14:foregroundMark x1="29116" y1="47690" x2="65015" y2="79076"/>
                        <a14:foregroundMark x1="65015" y1="79076" x2="76296" y2="63859"/>
                        <a14:foregroundMark x1="56555" y1="37092" x2="63338" y2="59511"/>
                        <a14:foregroundMark x1="60518" y1="39674" x2="48323" y2="55571"/>
                        <a14:foregroundMark x1="62271" y1="37772" x2="40168" y2="50679"/>
                        <a14:foregroundMark x1="40168" y1="50679" x2="39024" y2="64538"/>
                        <a14:foregroundMark x1="32241" y1="45380" x2="56174" y2="81114"/>
                        <a14:foregroundMark x1="56174" y1="81114" x2="56555" y2="79891"/>
                        <a14:foregroundMark x1="35442" y1="39674" x2="22027" y2="58832"/>
                        <a14:foregroundMark x1="22027" y1="58832" x2="35442" y2="69022"/>
                        <a14:foregroundMark x1="33308" y1="41576" x2="33384" y2="73913"/>
                        <a14:foregroundMark x1="33384" y1="73913" x2="38643" y2="72826"/>
                        <a14:foregroundMark x1="33308" y1="46739" x2="30793" y2="68342"/>
                        <a14:foregroundMark x1="30793" y1="41576" x2="27744" y2="67663"/>
                        <a14:foregroundMark x1="27744" y1="67663" x2="37271" y2="73505"/>
                        <a14:foregroundMark x1="28277" y1="41576" x2="41921" y2="72147"/>
                        <a14:foregroundMark x1="25762" y1="42255" x2="36128" y2="68342"/>
                        <a14:foregroundMark x1="51220" y1="46060" x2="74238" y2="48098"/>
                        <a14:foregroundMark x1="74238" y1="48098" x2="70198" y2="72826"/>
                        <a14:foregroundMark x1="75534" y1="46060" x2="66616" y2="70924"/>
                        <a14:foregroundMark x1="72332" y1="49864" x2="67683" y2="74728"/>
                        <a14:foregroundMark x1="72713" y1="49185" x2="60137" y2="66440"/>
                        <a14:foregroundMark x1="69131" y1="60734" x2="54040" y2="43207"/>
                        <a14:foregroundMark x1="54040" y1="43207" x2="81098" y2="51766"/>
                        <a14:foregroundMark x1="81098" y1="51766" x2="71951" y2="69701"/>
                        <a14:foregroundMark x1="71951" y1="69701" x2="70198" y2="69701"/>
                        <a14:foregroundMark x1="80945" y1="73505" x2="65930" y2="58696"/>
                        <a14:foregroundMark x1="65930" y1="58696" x2="80640" y2="58832"/>
                        <a14:foregroundMark x1="80640" y1="58832" x2="81631" y2="73505"/>
                        <a14:foregroundMark x1="32241" y1="44158" x2="20046" y2="60054"/>
                        <a14:foregroundMark x1="20046" y1="60054" x2="39024" y2="76495"/>
                        <a14:foregroundMark x1="39024" y1="76495" x2="42988" y2="69022"/>
                        <a14:foregroundMark x1="54421" y1="41576" x2="56555" y2="69022"/>
                        <a14:foregroundMark x1="56555" y1="69022" x2="56936" y2="65761"/>
                        <a14:foregroundMark x1="35061" y1="40353" x2="21799" y2="45924"/>
                        <a14:foregroundMark x1="21799" y1="45924" x2="23247" y2="69022"/>
                        <a14:foregroundMark x1="65854" y1="51087" x2="50991" y2="55978"/>
                        <a14:foregroundMark x1="50991" y1="55978" x2="56555" y2="69022"/>
                        <a14:backgroundMark x1="31174" y1="20516" x2="31174" y2="2051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736" t="25333" r="11136" b="8251"/>
          <a:stretch/>
        </p:blipFill>
        <p:spPr bwMode="auto">
          <a:xfrm>
            <a:off x="12063220" y="5879189"/>
            <a:ext cx="1737360" cy="885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Shape 32">
            <a:extLst>
              <a:ext uri="{FF2B5EF4-FFF2-40B4-BE49-F238E27FC236}">
                <a16:creationId xmlns:a16="http://schemas.microsoft.com/office/drawing/2014/main" id="{A7AE2BB9-DA64-62DD-4BA6-46D9CFB1B2D3}"/>
              </a:ext>
            </a:extLst>
          </p:cNvPr>
          <p:cNvSpPr/>
          <p:nvPr/>
        </p:nvSpPr>
        <p:spPr>
          <a:xfrm flipH="1" flipV="1">
            <a:off x="12494798" y="5085066"/>
            <a:ext cx="0" cy="559754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50" name="Shape 28">
            <a:extLst>
              <a:ext uri="{FF2B5EF4-FFF2-40B4-BE49-F238E27FC236}">
                <a16:creationId xmlns:a16="http://schemas.microsoft.com/office/drawing/2014/main" id="{79AB999A-CBAA-B04F-D82F-40F99D219744}"/>
              </a:ext>
            </a:extLst>
          </p:cNvPr>
          <p:cNvSpPr/>
          <p:nvPr/>
        </p:nvSpPr>
        <p:spPr>
          <a:xfrm flipH="1">
            <a:off x="6734422" y="3417903"/>
            <a:ext cx="1883748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43" name="Shape 10">
            <a:extLst>
              <a:ext uri="{FF2B5EF4-FFF2-40B4-BE49-F238E27FC236}">
                <a16:creationId xmlns:a16="http://schemas.microsoft.com/office/drawing/2014/main" id="{E27AB892-8018-D5F4-BE2A-AC8B2F130A0B}"/>
              </a:ext>
            </a:extLst>
          </p:cNvPr>
          <p:cNvSpPr/>
          <p:nvPr/>
        </p:nvSpPr>
        <p:spPr>
          <a:xfrm>
            <a:off x="4964320" y="3816379"/>
            <a:ext cx="1554480" cy="365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E293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latin typeface="Arial" panose="020B0604020202020204" pitchFamily="34" charset="0"/>
                <a:cs typeface="Arial" panose="020B0604020202020204" pitchFamily="34" charset="0"/>
              </a:rPr>
              <a:t>Admin.js (Only Admin)</a:t>
            </a:r>
            <a:endParaRPr lang="ko-KR" altLang="en-US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Shape 10">
            <a:extLst>
              <a:ext uri="{FF2B5EF4-FFF2-40B4-BE49-F238E27FC236}">
                <a16:creationId xmlns:a16="http://schemas.microsoft.com/office/drawing/2014/main" id="{F49E14EA-F438-07FC-5EB6-FC68C8CE2BD1}"/>
              </a:ext>
            </a:extLst>
          </p:cNvPr>
          <p:cNvSpPr/>
          <p:nvPr/>
        </p:nvSpPr>
        <p:spPr>
          <a:xfrm>
            <a:off x="4964320" y="4305964"/>
            <a:ext cx="1554480" cy="50151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E293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Article.js (User)</a:t>
            </a:r>
          </a:p>
          <a:p>
            <a:pPr algn="ctr"/>
            <a:r>
              <a:rPr lang="en-US" altLang="ko-KR" sz="1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Article-view.js (User)</a:t>
            </a: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8EAA79D5-2CAB-CDFB-C2CE-F8790171F10C}"/>
              </a:ext>
            </a:extLst>
          </p:cNvPr>
          <p:cNvCxnSpPr>
            <a:cxnSpLocks/>
          </p:cNvCxnSpPr>
          <p:nvPr/>
        </p:nvCxnSpPr>
        <p:spPr>
          <a:xfrm>
            <a:off x="6734422" y="4015513"/>
            <a:ext cx="1906780" cy="0"/>
          </a:xfrm>
          <a:prstGeom prst="straightConnector1">
            <a:avLst/>
          </a:prstGeom>
          <a:ln w="158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 31">
            <a:extLst>
              <a:ext uri="{FF2B5EF4-FFF2-40B4-BE49-F238E27FC236}">
                <a16:creationId xmlns:a16="http://schemas.microsoft.com/office/drawing/2014/main" id="{B4054A5E-8409-199D-A46C-852549354900}"/>
              </a:ext>
            </a:extLst>
          </p:cNvPr>
          <p:cNvSpPr/>
          <p:nvPr/>
        </p:nvSpPr>
        <p:spPr>
          <a:xfrm>
            <a:off x="6619164" y="4077947"/>
            <a:ext cx="2137292" cy="280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Token (Authenticate)</a:t>
            </a:r>
          </a:p>
          <a:p>
            <a:pPr algn="ctr"/>
            <a:r>
              <a:rPr lang="en-US" sz="1000" b="1" dirty="0">
                <a:solidFill>
                  <a:srgbClr val="0F172A"/>
                </a:solidFill>
                <a:latin typeface="Arial" pitchFamily="34" charset="0"/>
                <a:cs typeface="Arial" pitchFamily="34" charset="-120"/>
              </a:rPr>
              <a:t>CRUD </a:t>
            </a:r>
            <a:r>
              <a:rPr lang="en-US" altLang="ko-KR" sz="1000" b="1" dirty="0">
                <a:solidFill>
                  <a:srgbClr val="0F172A"/>
                </a:solidFill>
                <a:latin typeface="Arial" pitchFamily="34" charset="0"/>
                <a:cs typeface="Arial" pitchFamily="34" charset="-120"/>
              </a:rPr>
              <a:t>Articles </a:t>
            </a:r>
            <a:endParaRPr 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6F591C3-E575-8239-7482-53CAF51853EB}"/>
              </a:ext>
            </a:extLst>
          </p:cNvPr>
          <p:cNvSpPr txBox="1"/>
          <p:nvPr/>
        </p:nvSpPr>
        <p:spPr>
          <a:xfrm>
            <a:off x="7592346" y="2210043"/>
            <a:ext cx="135663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Connection</a:t>
            </a:r>
            <a:endParaRPr lang="en-US" altLang="ko-KR" sz="1000" dirty="0"/>
          </a:p>
        </p:txBody>
      </p:sp>
      <p:pic>
        <p:nvPicPr>
          <p:cNvPr id="59" name="Picture 2" descr="Server PNG, 일러스트, PSD 및 클립 아트에 대한 무료 다운로드 | Pngtree">
            <a:extLst>
              <a:ext uri="{FF2B5EF4-FFF2-40B4-BE49-F238E27FC236}">
                <a16:creationId xmlns:a16="http://schemas.microsoft.com/office/drawing/2014/main" id="{CF746296-E4E8-FFB1-8B76-5567DCAA5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4344" y="3902781"/>
            <a:ext cx="987496" cy="987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5BE322D2-9318-FDCB-B8C1-180396912635}"/>
              </a:ext>
            </a:extLst>
          </p:cNvPr>
          <p:cNvCxnSpPr>
            <a:cxnSpLocks/>
          </p:cNvCxnSpPr>
          <p:nvPr/>
        </p:nvCxnSpPr>
        <p:spPr>
          <a:xfrm>
            <a:off x="6734422" y="4503735"/>
            <a:ext cx="1906780" cy="0"/>
          </a:xfrm>
          <a:prstGeom prst="straightConnector1">
            <a:avLst/>
          </a:prstGeom>
          <a:ln w="158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31">
            <a:extLst>
              <a:ext uri="{FF2B5EF4-FFF2-40B4-BE49-F238E27FC236}">
                <a16:creationId xmlns:a16="http://schemas.microsoft.com/office/drawing/2014/main" id="{141C16E3-6691-2049-E969-A71C48CBF030}"/>
              </a:ext>
            </a:extLst>
          </p:cNvPr>
          <p:cNvSpPr/>
          <p:nvPr/>
        </p:nvSpPr>
        <p:spPr>
          <a:xfrm>
            <a:off x="6658154" y="4527429"/>
            <a:ext cx="2137292" cy="280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</a:t>
            </a:r>
            <a:r>
              <a:rPr lang="en-US" altLang="ko-KR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Articles </a:t>
            </a: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API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62" name="Shape 14">
            <a:extLst>
              <a:ext uri="{FF2B5EF4-FFF2-40B4-BE49-F238E27FC236}">
                <a16:creationId xmlns:a16="http://schemas.microsoft.com/office/drawing/2014/main" id="{67B33B17-EBA3-9433-47D4-A5EA1C5168F5}"/>
              </a:ext>
            </a:extLst>
          </p:cNvPr>
          <p:cNvSpPr/>
          <p:nvPr/>
        </p:nvSpPr>
        <p:spPr>
          <a:xfrm>
            <a:off x="14975188" y="3566759"/>
            <a:ext cx="4455812" cy="14087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63" name="Picture 4" descr="Cloudflare - 나무위키">
            <a:extLst>
              <a:ext uri="{FF2B5EF4-FFF2-40B4-BE49-F238E27FC236}">
                <a16:creationId xmlns:a16="http://schemas.microsoft.com/office/drawing/2014/main" id="{FB205DEF-1FEB-FF38-9C14-E6295FAB5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4804" y="3699673"/>
            <a:ext cx="1573516" cy="5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24" name="직선 화살표 연결선 1023">
            <a:extLst>
              <a:ext uri="{FF2B5EF4-FFF2-40B4-BE49-F238E27FC236}">
                <a16:creationId xmlns:a16="http://schemas.microsoft.com/office/drawing/2014/main" id="{4AFB363C-37F7-21C3-A972-9CB222026CE0}"/>
              </a:ext>
            </a:extLst>
          </p:cNvPr>
          <p:cNvCxnSpPr>
            <a:cxnSpLocks/>
          </p:cNvCxnSpPr>
          <p:nvPr/>
        </p:nvCxnSpPr>
        <p:spPr>
          <a:xfrm>
            <a:off x="13897223" y="4527429"/>
            <a:ext cx="989070" cy="0"/>
          </a:xfrm>
          <a:prstGeom prst="straightConnector1">
            <a:avLst/>
          </a:prstGeom>
          <a:ln w="158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7" name="Text 31">
            <a:extLst>
              <a:ext uri="{FF2B5EF4-FFF2-40B4-BE49-F238E27FC236}">
                <a16:creationId xmlns:a16="http://schemas.microsoft.com/office/drawing/2014/main" id="{4C859E99-E8C9-9102-BBE1-2F32AC8562C9}"/>
              </a:ext>
            </a:extLst>
          </p:cNvPr>
          <p:cNvSpPr/>
          <p:nvPr/>
        </p:nvSpPr>
        <p:spPr>
          <a:xfrm>
            <a:off x="13315632" y="4584338"/>
            <a:ext cx="2137292" cy="5193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</a:t>
            </a:r>
          </a:p>
          <a:p>
            <a:pPr algn="ctr"/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Admin: CRUD</a:t>
            </a:r>
          </a:p>
          <a:p>
            <a:pPr algn="ctr"/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User: R</a:t>
            </a:r>
          </a:p>
        </p:txBody>
      </p:sp>
      <p:sp>
        <p:nvSpPr>
          <p:cNvPr id="1033" name="TextBox 1032">
            <a:extLst>
              <a:ext uri="{FF2B5EF4-FFF2-40B4-BE49-F238E27FC236}">
                <a16:creationId xmlns:a16="http://schemas.microsoft.com/office/drawing/2014/main" id="{0D15D22A-E272-A3A0-CE95-DE55A8933FB8}"/>
              </a:ext>
            </a:extLst>
          </p:cNvPr>
          <p:cNvSpPr txBox="1"/>
          <p:nvPr/>
        </p:nvSpPr>
        <p:spPr>
          <a:xfrm>
            <a:off x="15039009" y="3623198"/>
            <a:ext cx="8997950" cy="4231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CLOUDFLARE D1 Database</a:t>
            </a:r>
            <a:r>
              <a:rPr lang="en-US" altLang="ko-KR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altLang="ko-KR" sz="100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Storing Articles</a:t>
            </a:r>
            <a:endParaRPr lang="en-US" altLang="ko-KR" sz="1000" dirty="0"/>
          </a:p>
        </p:txBody>
      </p:sp>
      <p:pic>
        <p:nvPicPr>
          <p:cNvPr id="1035" name="Picture 6" descr="Database - Free seo and web icons">
            <a:extLst>
              <a:ext uri="{FF2B5EF4-FFF2-40B4-BE49-F238E27FC236}">
                <a16:creationId xmlns:a16="http://schemas.microsoft.com/office/drawing/2014/main" id="{87002573-172B-2AE3-BAF0-7D2355D8F2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01881" y="4082728"/>
            <a:ext cx="724750" cy="72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36" name="그룹 1035">
            <a:extLst>
              <a:ext uri="{FF2B5EF4-FFF2-40B4-BE49-F238E27FC236}">
                <a16:creationId xmlns:a16="http://schemas.microsoft.com/office/drawing/2014/main" id="{70A04A57-8AD5-744F-49D3-C67F70F3CAE6}"/>
              </a:ext>
            </a:extLst>
          </p:cNvPr>
          <p:cNvGrpSpPr/>
          <p:nvPr/>
        </p:nvGrpSpPr>
        <p:grpSpPr>
          <a:xfrm>
            <a:off x="278556" y="1622366"/>
            <a:ext cx="1329704" cy="1411942"/>
            <a:chOff x="5244279" y="4561382"/>
            <a:chExt cx="1329704" cy="1411941"/>
          </a:xfrm>
        </p:grpSpPr>
        <p:sp>
          <p:nvSpPr>
            <p:cNvPr id="1037" name="Shape 18">
              <a:extLst>
                <a:ext uri="{FF2B5EF4-FFF2-40B4-BE49-F238E27FC236}">
                  <a16:creationId xmlns:a16="http://schemas.microsoft.com/office/drawing/2014/main" id="{C5709FBC-2A64-C8C5-B90E-5FF668E82CD1}"/>
                </a:ext>
              </a:extLst>
            </p:cNvPr>
            <p:cNvSpPr/>
            <p:nvPr/>
          </p:nvSpPr>
          <p:spPr>
            <a:xfrm>
              <a:off x="5244279" y="4561382"/>
              <a:ext cx="1329704" cy="1411941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94A3B8"/>
              </a:solidFill>
              <a:prstDash val="solid"/>
            </a:ln>
          </p:spPr>
        </p:sp>
        <p:sp>
          <p:nvSpPr>
            <p:cNvPr id="1038" name="Shape 19">
              <a:extLst>
                <a:ext uri="{FF2B5EF4-FFF2-40B4-BE49-F238E27FC236}">
                  <a16:creationId xmlns:a16="http://schemas.microsoft.com/office/drawing/2014/main" id="{911ADDDB-67B4-E9FF-E6F6-3F55223F5364}"/>
                </a:ext>
              </a:extLst>
            </p:cNvPr>
            <p:cNvSpPr/>
            <p:nvPr/>
          </p:nvSpPr>
          <p:spPr>
            <a:xfrm>
              <a:off x="5726250" y="4607097"/>
              <a:ext cx="365760" cy="45720"/>
            </a:xfrm>
            <a:prstGeom prst="roundRect">
              <a:avLst/>
            </a:prstGeom>
            <a:solidFill>
              <a:srgbClr val="E2E8F0"/>
            </a:solidFill>
            <a:ln/>
          </p:spPr>
        </p:sp>
        <p:sp>
          <p:nvSpPr>
            <p:cNvPr id="1039" name="Shape 20">
              <a:extLst>
                <a:ext uri="{FF2B5EF4-FFF2-40B4-BE49-F238E27FC236}">
                  <a16:creationId xmlns:a16="http://schemas.microsoft.com/office/drawing/2014/main" id="{08DE8E13-AB22-B23D-2C93-17F2A745DFE9}"/>
                </a:ext>
              </a:extLst>
            </p:cNvPr>
            <p:cNvSpPr/>
            <p:nvPr/>
          </p:nvSpPr>
          <p:spPr>
            <a:xfrm>
              <a:off x="5335719" y="4744257"/>
              <a:ext cx="963944" cy="182880"/>
            </a:xfrm>
            <a:prstGeom prst="roundRect">
              <a:avLst/>
            </a:prstGeom>
            <a:solidFill>
              <a:srgbClr val="F1F5F9"/>
            </a:solidFill>
            <a:ln/>
          </p:spPr>
        </p:sp>
        <p:sp>
          <p:nvSpPr>
            <p:cNvPr id="1040" name="Shape 21">
              <a:extLst>
                <a:ext uri="{FF2B5EF4-FFF2-40B4-BE49-F238E27FC236}">
                  <a16:creationId xmlns:a16="http://schemas.microsoft.com/office/drawing/2014/main" id="{4D65580E-7F56-5A41-B182-AAA2219BDEF2}"/>
                </a:ext>
              </a:extLst>
            </p:cNvPr>
            <p:cNvSpPr/>
            <p:nvPr/>
          </p:nvSpPr>
          <p:spPr>
            <a:xfrm>
              <a:off x="5518599" y="4972857"/>
              <a:ext cx="963944" cy="182880"/>
            </a:xfrm>
            <a:prstGeom prst="roundRect">
              <a:avLst/>
            </a:prstGeom>
            <a:solidFill>
              <a:srgbClr val="0284C7"/>
            </a:solidFill>
            <a:ln/>
          </p:spPr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3EF71D17-2626-188E-B712-72630AD6D911}"/>
              </a:ext>
            </a:extLst>
          </p:cNvPr>
          <p:cNvSpPr txBox="1"/>
          <p:nvPr/>
        </p:nvSpPr>
        <p:spPr>
          <a:xfrm>
            <a:off x="459979" y="1342173"/>
            <a:ext cx="96685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0F172A"/>
                </a:solidFill>
                <a:latin typeface="Arial" pitchFamily="34" charset="0"/>
                <a:cs typeface="Arial" pitchFamily="34" charset="-120"/>
              </a:rPr>
              <a:t>Index.html</a:t>
            </a:r>
            <a:endParaRPr lang="en-US" altLang="ko-KR" sz="1000" dirty="0"/>
          </a:p>
        </p:txBody>
      </p:sp>
      <p:sp>
        <p:nvSpPr>
          <p:cNvPr id="1047" name="TextBox 1046">
            <a:extLst>
              <a:ext uri="{FF2B5EF4-FFF2-40B4-BE49-F238E27FC236}">
                <a16:creationId xmlns:a16="http://schemas.microsoft.com/office/drawing/2014/main" id="{0D228F3E-EC68-1F6E-128E-23F83843A252}"/>
              </a:ext>
            </a:extLst>
          </p:cNvPr>
          <p:cNvSpPr txBox="1"/>
          <p:nvPr/>
        </p:nvSpPr>
        <p:spPr>
          <a:xfrm>
            <a:off x="479335" y="3190232"/>
            <a:ext cx="96685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0F172A"/>
                </a:solidFill>
                <a:latin typeface="Arial" pitchFamily="34" charset="0"/>
                <a:cs typeface="Arial" pitchFamily="34" charset="-120"/>
              </a:rPr>
              <a:t>Admin Page</a:t>
            </a:r>
          </a:p>
          <a:p>
            <a:pPr algn="ctr"/>
            <a:r>
              <a:rPr lang="en-US" altLang="ko-KR" sz="1000" b="1" dirty="0">
                <a:solidFill>
                  <a:srgbClr val="0F172A"/>
                </a:solidFill>
                <a:latin typeface="Arial" pitchFamily="34" charset="0"/>
                <a:cs typeface="Arial" pitchFamily="34" charset="-120"/>
              </a:rPr>
              <a:t>(Secret)</a:t>
            </a:r>
            <a:endParaRPr lang="en-US" altLang="ko-KR" sz="1000" dirty="0"/>
          </a:p>
        </p:txBody>
      </p:sp>
      <p:sp>
        <p:nvSpPr>
          <p:cNvPr id="1049" name="TextBox 1048">
            <a:extLst>
              <a:ext uri="{FF2B5EF4-FFF2-40B4-BE49-F238E27FC236}">
                <a16:creationId xmlns:a16="http://schemas.microsoft.com/office/drawing/2014/main" id="{3CED4BCC-842E-F391-2633-16E1EAC91783}"/>
              </a:ext>
            </a:extLst>
          </p:cNvPr>
          <p:cNvSpPr txBox="1"/>
          <p:nvPr/>
        </p:nvSpPr>
        <p:spPr>
          <a:xfrm>
            <a:off x="143402" y="6867567"/>
            <a:ext cx="7999112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/>
              <a:t>&lt;Admin&gt;</a:t>
            </a:r>
          </a:p>
          <a:p>
            <a:r>
              <a:rPr lang="en-US" altLang="ko-KR" sz="1400" dirty="0"/>
              <a:t>1. </a:t>
            </a:r>
            <a:r>
              <a:rPr lang="ko-KR" altLang="en-US" sz="1400" dirty="0" err="1"/>
              <a:t>Admin</a:t>
            </a:r>
            <a:r>
              <a:rPr lang="ko-KR" altLang="en-US" sz="1400" dirty="0"/>
              <a:t> </a:t>
            </a:r>
            <a:r>
              <a:rPr lang="ko-KR" altLang="en-US" sz="1400" dirty="0" err="1"/>
              <a:t>logs</a:t>
            </a:r>
            <a:r>
              <a:rPr lang="ko-KR" altLang="en-US" sz="1400" dirty="0"/>
              <a:t> </a:t>
            </a:r>
            <a:r>
              <a:rPr lang="ko-KR" altLang="en-US" sz="1400" dirty="0" err="1"/>
              <a:t>in</a:t>
            </a:r>
            <a:r>
              <a:rPr lang="ko-KR" altLang="en-US" sz="1400" dirty="0"/>
              <a:t> </a:t>
            </a:r>
            <a:r>
              <a:rPr lang="ko-KR" altLang="en-US" sz="1400" dirty="0" err="1"/>
              <a:t>via</a:t>
            </a:r>
            <a:r>
              <a:rPr lang="ko-KR" altLang="en-US" sz="1400" dirty="0"/>
              <a:t> admin.html </a:t>
            </a:r>
            <a:r>
              <a:rPr lang="ko-KR" altLang="en-US" sz="1400" dirty="0" err="1"/>
              <a:t>using</a:t>
            </a:r>
            <a:r>
              <a:rPr lang="ko-KR" altLang="en-US" sz="1400" dirty="0"/>
              <a:t> </a:t>
            </a:r>
            <a:r>
              <a:rPr lang="ko-KR" altLang="en-US" sz="1400" dirty="0" err="1"/>
              <a:t>a</a:t>
            </a:r>
            <a:r>
              <a:rPr lang="ko-KR" altLang="en-US" sz="1400" dirty="0"/>
              <a:t> </a:t>
            </a:r>
            <a:r>
              <a:rPr lang="ko-KR" altLang="en-US" sz="1400" dirty="0" err="1"/>
              <a:t>token-based</a:t>
            </a:r>
            <a:r>
              <a:rPr lang="ko-KR" altLang="en-US" sz="1400" dirty="0"/>
              <a:t> </a:t>
            </a:r>
            <a:r>
              <a:rPr lang="ko-KR" altLang="en-US" sz="1400" dirty="0" err="1"/>
              <a:t>authentication</a:t>
            </a:r>
            <a:r>
              <a:rPr lang="ko-KR" altLang="en-US" sz="1400" dirty="0"/>
              <a:t>.</a:t>
            </a:r>
          </a:p>
          <a:p>
            <a:r>
              <a:rPr lang="en-US" altLang="ko-KR" sz="1400" dirty="0"/>
              <a:t>2. </a:t>
            </a:r>
            <a:r>
              <a:rPr lang="ko-KR" altLang="en-US" sz="1400" dirty="0"/>
              <a:t>admin.js </a:t>
            </a:r>
            <a:r>
              <a:rPr lang="ko-KR" altLang="en-US" sz="1400" dirty="0" err="1"/>
              <a:t>sends</a:t>
            </a:r>
            <a:r>
              <a:rPr lang="ko-KR" altLang="en-US" sz="1400" dirty="0"/>
              <a:t> HTTP </a:t>
            </a:r>
            <a:r>
              <a:rPr lang="ko-KR" altLang="en-US" sz="1400" dirty="0" err="1"/>
              <a:t>requests</a:t>
            </a:r>
            <a:r>
              <a:rPr lang="ko-KR" altLang="en-US" sz="1400" dirty="0"/>
              <a:t> (POST/PUT/DELETE) </a:t>
            </a:r>
            <a:r>
              <a:rPr lang="ko-KR" altLang="en-US" sz="1400" dirty="0" err="1"/>
              <a:t>with</a:t>
            </a:r>
            <a:r>
              <a:rPr lang="ko-KR" altLang="en-US" sz="1400" dirty="0"/>
              <a:t> </a:t>
            </a:r>
            <a:r>
              <a:rPr lang="ko-KR" altLang="en-US" sz="1400" dirty="0" err="1"/>
              <a:t>an</a:t>
            </a:r>
            <a:r>
              <a:rPr lang="ko-KR" altLang="en-US" sz="1400" dirty="0"/>
              <a:t> </a:t>
            </a:r>
            <a:r>
              <a:rPr lang="ko-KR" altLang="en-US" sz="1400" dirty="0" err="1"/>
              <a:t>Authorization</a:t>
            </a:r>
            <a:r>
              <a:rPr lang="ko-KR" altLang="en-US" sz="1400" dirty="0"/>
              <a:t> </a:t>
            </a:r>
            <a:r>
              <a:rPr lang="ko-KR" altLang="en-US" sz="1400" dirty="0" err="1"/>
              <a:t>header</a:t>
            </a:r>
            <a:r>
              <a:rPr lang="ko-KR" altLang="en-US" sz="1400" dirty="0"/>
              <a:t> </a:t>
            </a:r>
            <a:r>
              <a:rPr lang="ko-KR" altLang="en-US" sz="1400" dirty="0" err="1"/>
              <a:t>to</a:t>
            </a:r>
            <a:r>
              <a:rPr lang="ko-KR" altLang="en-US" sz="1400" dirty="0"/>
              <a:t> </a:t>
            </a:r>
            <a:r>
              <a:rPr lang="ko-KR" altLang="en-US" sz="1400" dirty="0" err="1"/>
              <a:t>Cloudflare</a:t>
            </a:r>
            <a:r>
              <a:rPr lang="ko-KR" altLang="en-US" sz="1400" dirty="0"/>
              <a:t> </a:t>
            </a:r>
            <a:r>
              <a:rPr lang="ko-KR" altLang="en-US" sz="1400" dirty="0" err="1"/>
              <a:t>Worker</a:t>
            </a:r>
            <a:r>
              <a:rPr lang="ko-KR" altLang="en-US" sz="1400" dirty="0"/>
              <a:t>.</a:t>
            </a:r>
          </a:p>
          <a:p>
            <a:r>
              <a:rPr lang="en-US" altLang="ko-KR" sz="1400" dirty="0"/>
              <a:t>3. </a:t>
            </a:r>
            <a:r>
              <a:rPr lang="ko-KR" altLang="en-US" sz="1400" dirty="0"/>
              <a:t>The </a:t>
            </a:r>
            <a:r>
              <a:rPr lang="ko-KR" altLang="en-US" sz="1400" dirty="0" err="1"/>
              <a:t>Worker</a:t>
            </a:r>
            <a:r>
              <a:rPr lang="ko-KR" altLang="en-US" sz="1400" dirty="0"/>
              <a:t> </a:t>
            </a:r>
            <a:r>
              <a:rPr lang="ko-KR" altLang="en-US" sz="1400" dirty="0" err="1"/>
              <a:t>validates</a:t>
            </a:r>
            <a:r>
              <a:rPr lang="ko-KR" altLang="en-US" sz="1400" dirty="0"/>
              <a:t> </a:t>
            </a:r>
            <a:r>
              <a:rPr lang="ko-KR" altLang="en-US" sz="1400" dirty="0" err="1"/>
              <a:t>the</a:t>
            </a:r>
            <a:r>
              <a:rPr lang="ko-KR" altLang="en-US" sz="1400" dirty="0"/>
              <a:t> </a:t>
            </a:r>
            <a:r>
              <a:rPr lang="ko-KR" altLang="en-US" sz="1400" dirty="0" err="1"/>
              <a:t>admin</a:t>
            </a:r>
            <a:r>
              <a:rPr lang="ko-KR" altLang="en-US" sz="1400" dirty="0"/>
              <a:t> </a:t>
            </a:r>
            <a:r>
              <a:rPr lang="ko-KR" altLang="en-US" sz="1400" dirty="0" err="1"/>
              <a:t>token</a:t>
            </a:r>
            <a:r>
              <a:rPr lang="ko-KR" altLang="en-US" sz="1400" dirty="0"/>
              <a:t> and </a:t>
            </a:r>
            <a:r>
              <a:rPr lang="ko-KR" altLang="en-US" sz="1400" dirty="0" err="1"/>
              <a:t>processes</a:t>
            </a:r>
            <a:r>
              <a:rPr lang="ko-KR" altLang="en-US" sz="1400" dirty="0"/>
              <a:t> </a:t>
            </a:r>
            <a:r>
              <a:rPr lang="ko-KR" altLang="en-US" sz="1400" dirty="0" err="1"/>
              <a:t>the</a:t>
            </a:r>
            <a:r>
              <a:rPr lang="ko-KR" altLang="en-US" sz="1400" dirty="0"/>
              <a:t> </a:t>
            </a:r>
            <a:r>
              <a:rPr lang="ko-KR" altLang="en-US" sz="1400" dirty="0" err="1"/>
              <a:t>request</a:t>
            </a:r>
            <a:r>
              <a:rPr lang="ko-KR" altLang="en-US" sz="1400" dirty="0"/>
              <a:t>.</a:t>
            </a:r>
          </a:p>
          <a:p>
            <a:r>
              <a:rPr lang="en-US" altLang="ko-KR" sz="1400" dirty="0"/>
              <a:t>4. </a:t>
            </a:r>
            <a:r>
              <a:rPr lang="ko-KR" altLang="en-US" sz="1400" dirty="0" err="1"/>
              <a:t>Validated</a:t>
            </a:r>
            <a:r>
              <a:rPr lang="ko-KR" altLang="en-US" sz="1400" dirty="0"/>
              <a:t> </a:t>
            </a:r>
            <a:r>
              <a:rPr lang="ko-KR" altLang="en-US" sz="1400" dirty="0" err="1"/>
              <a:t>data</a:t>
            </a:r>
            <a:r>
              <a:rPr lang="ko-KR" altLang="en-US" sz="1400" dirty="0"/>
              <a:t> </a:t>
            </a:r>
            <a:r>
              <a:rPr lang="ko-KR" altLang="en-US" sz="1400" dirty="0" err="1"/>
              <a:t>is</a:t>
            </a:r>
            <a:r>
              <a:rPr lang="ko-KR" altLang="en-US" sz="1400" dirty="0"/>
              <a:t> </a:t>
            </a:r>
            <a:r>
              <a:rPr lang="ko-KR" altLang="en-US" sz="1400" dirty="0" err="1"/>
              <a:t>stored</a:t>
            </a:r>
            <a:r>
              <a:rPr lang="ko-KR" altLang="en-US" sz="1400" dirty="0"/>
              <a:t> </a:t>
            </a:r>
            <a:r>
              <a:rPr lang="ko-KR" altLang="en-US" sz="1400" dirty="0" err="1"/>
              <a:t>or</a:t>
            </a:r>
            <a:r>
              <a:rPr lang="ko-KR" altLang="en-US" sz="1400" dirty="0"/>
              <a:t> </a:t>
            </a:r>
            <a:r>
              <a:rPr lang="ko-KR" altLang="en-US" sz="1400" dirty="0" err="1"/>
              <a:t>modified</a:t>
            </a:r>
            <a:r>
              <a:rPr lang="ko-KR" altLang="en-US" sz="1400" dirty="0"/>
              <a:t> </a:t>
            </a:r>
            <a:r>
              <a:rPr lang="ko-KR" altLang="en-US" sz="1400" dirty="0" err="1"/>
              <a:t>in</a:t>
            </a:r>
            <a:r>
              <a:rPr lang="ko-KR" altLang="en-US" sz="1400" dirty="0"/>
              <a:t> </a:t>
            </a:r>
            <a:r>
              <a:rPr lang="ko-KR" altLang="en-US" sz="1400" dirty="0" err="1"/>
              <a:t>the</a:t>
            </a:r>
            <a:r>
              <a:rPr lang="ko-KR" altLang="en-US" sz="1400" dirty="0"/>
              <a:t> D1 </a:t>
            </a:r>
            <a:r>
              <a:rPr lang="ko-KR" altLang="en-US" sz="1400" dirty="0" err="1"/>
              <a:t>database</a:t>
            </a:r>
            <a:r>
              <a:rPr lang="ko-KR" altLang="en-US" sz="1400" dirty="0"/>
              <a:t> (</a:t>
            </a:r>
            <a:r>
              <a:rPr lang="ko-KR" altLang="en-US" sz="1400" dirty="0" err="1"/>
              <a:t>articles</a:t>
            </a:r>
            <a:r>
              <a:rPr lang="ko-KR" altLang="en-US" sz="1400" dirty="0"/>
              <a:t> </a:t>
            </a:r>
            <a:r>
              <a:rPr lang="ko-KR" altLang="en-US" sz="1400" dirty="0" err="1"/>
              <a:t>table</a:t>
            </a:r>
            <a:r>
              <a:rPr lang="ko-KR" altLang="en-US" sz="1400" dirty="0"/>
              <a:t>).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b="1" dirty="0"/>
              <a:t>&lt;User Flow1&gt;</a:t>
            </a:r>
          </a:p>
          <a:p>
            <a:r>
              <a:rPr lang="en-US" altLang="ko-KR" sz="1400" dirty="0"/>
              <a:t>1. Users access article.html to view posts.</a:t>
            </a:r>
          </a:p>
          <a:p>
            <a:r>
              <a:rPr lang="en-US" altLang="ko-KR" sz="1400" dirty="0"/>
              <a:t>2. article.js sends a GET request to Cloudflare Worker.</a:t>
            </a:r>
          </a:p>
          <a:p>
            <a:r>
              <a:rPr lang="en-US" altLang="ko-KR" sz="1400" dirty="0"/>
              <a:t>3. The Worker retrieves data from the D1 database (articles table).</a:t>
            </a:r>
          </a:p>
          <a:p>
            <a:r>
              <a:rPr lang="en-US" altLang="ko-KR" sz="1400" dirty="0"/>
              <a:t>4. The response is returned as JSON and rendered on the frontend.</a:t>
            </a:r>
          </a:p>
          <a:p>
            <a:endParaRPr lang="en-US" altLang="ko-KR" sz="1400" b="1" dirty="0"/>
          </a:p>
          <a:p>
            <a:r>
              <a:rPr lang="en-US" altLang="ko-KR" sz="1400" b="1" dirty="0"/>
              <a:t>&lt;User Flow2&gt;</a:t>
            </a:r>
          </a:p>
          <a:p>
            <a:r>
              <a:rPr lang="en-US" altLang="ko-KR" sz="1400" dirty="0"/>
              <a:t>1. Users select a specific article via article-detail.html.</a:t>
            </a:r>
          </a:p>
          <a:p>
            <a:r>
              <a:rPr lang="en-US" altLang="ko-KR" sz="1400" dirty="0"/>
              <a:t>2. article-detail.js requests article data by ID from the Worker.</a:t>
            </a:r>
          </a:p>
          <a:p>
            <a:r>
              <a:rPr lang="en-US" altLang="ko-KR" sz="1400" dirty="0"/>
              <a:t>3. The Worker queries the D1 database and returns the article content.</a:t>
            </a:r>
          </a:p>
          <a:p>
            <a:r>
              <a:rPr lang="en-US" altLang="ko-KR" sz="1400" dirty="0"/>
              <a:t>4. The frontend renders the article dynamically.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131</TotalTime>
  <Words>366</Words>
  <Application>Microsoft Office PowerPoint</Application>
  <PresentationFormat>사용자 지정</PresentationFormat>
  <Paragraphs>56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2013 - 2022 테마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etri lee</cp:lastModifiedBy>
  <cp:revision>14</cp:revision>
  <dcterms:created xsi:type="dcterms:W3CDTF">2026-06-01T00:05:53Z</dcterms:created>
  <dcterms:modified xsi:type="dcterms:W3CDTF">2026-06-02T00:27:20Z</dcterms:modified>
</cp:coreProperties>
</file>